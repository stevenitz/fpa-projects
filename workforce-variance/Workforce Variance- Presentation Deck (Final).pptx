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8" autoAdjust="0"/>
    <p:restoredTop sz="94610"/>
  </p:normalViewPr>
  <p:slideViewPr>
    <p:cSldViewPr snapToGrid="0" snapToObjects="1">
      <p:cViewPr>
        <p:scale>
          <a:sx n="45" d="100"/>
          <a:sy n="45" d="100"/>
        </p:scale>
        <p:origin x="624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3550135501355014E-2"/>
          <c:y val="6.9444444444444448E-2"/>
          <c:w val="0.97515808491418243"/>
          <c:h val="0.8611111111111111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 % vs Plan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7D2FB370-F214-40F7-8EFA-DA311E741262}" type="VALUE">
                      <a:rPr lang="en-US">
                        <a:solidFill>
                          <a:srgbClr val="002060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71A2-4731-BD0D-29F84378DA5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DEA12DB-84FF-4962-9933-30787144209C}" type="VALUE">
                      <a:rPr lang="en-US">
                        <a:solidFill>
                          <a:srgbClr val="002060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1A2-4731-BD0D-29F84378DA5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1C8E5DA-9670-4EFA-BDCE-00BBE7F0ACF3}" type="VALUE">
                      <a:rPr lang="en-US">
                        <a:solidFill>
                          <a:srgbClr val="002060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1A2-4731-BD0D-29F84378DA5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597850DC-14A2-4D94-BF20-D7989D05DD4D}" type="VALUE">
                      <a:rPr lang="en-US">
                        <a:solidFill>
                          <a:srgbClr val="002060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71A2-4731-BD0D-29F84378DA5B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rgbClr val="FFFFFF"/>
                    </a:solidFill>
                    <a:latin typeface="Calibri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Location 1</c:v>
                </c:pt>
                <c:pt idx="1">
                  <c:v>Location 2</c:v>
                </c:pt>
                <c:pt idx="2">
                  <c:v>Location 3</c:v>
                </c:pt>
                <c:pt idx="3">
                  <c:v>Location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-2.89</c:v>
                </c:pt>
                <c:pt idx="1">
                  <c:v>-2.66</c:v>
                </c:pt>
                <c:pt idx="2">
                  <c:v>-0.26</c:v>
                </c:pt>
                <c:pt idx="3">
                  <c:v>-2.15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A2-4731-BD0D-29F84378DA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rgbClr val="4A5A9A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axMin"/>
        </c:scaling>
        <c:delete val="1"/>
        <c:axPos val="b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1E2761">
            <a:alpha val="0"/>
          </a:srgbClr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E2761">
        <a:alpha val="0"/>
      </a:srgbClr>
    </a:solidFill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6424343126464025E-2"/>
          <c:y val="4.129129129129129E-2"/>
          <c:w val="0.89669393644342843"/>
          <c:h val="0.772849424227377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Actual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dLbl>
              <c:idx val="0"/>
              <c:numFmt formatCode="General\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1B7B-4675-9823-1A906A7DD044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Loc 1</c:v>
                </c:pt>
                <c:pt idx="1">
                  <c:v>Loc 2</c:v>
                </c:pt>
                <c:pt idx="2">
                  <c:v>Loc 3</c:v>
                </c:pt>
                <c:pt idx="3">
                  <c:v>Loc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16.53</c:v>
                </c:pt>
                <c:pt idx="1">
                  <c:v>10.01</c:v>
                </c:pt>
                <c:pt idx="2">
                  <c:v>11.47</c:v>
                </c:pt>
                <c:pt idx="3">
                  <c:v>10.58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7B-4675-9823-1A906A7DD0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Plan</c:v>
                </c:pt>
              </c:strCache>
            </c:strRef>
          </c:tx>
          <c:spPr>
            <a:solidFill>
              <a:srgbClr val="6E86C8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Loc 1</c:v>
                </c:pt>
                <c:pt idx="1">
                  <c:v>Loc 2</c:v>
                </c:pt>
                <c:pt idx="2">
                  <c:v>Loc 3</c:v>
                </c:pt>
                <c:pt idx="3">
                  <c:v>Loc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14.92</c:v>
                </c:pt>
                <c:pt idx="1">
                  <c:v>7.81</c:v>
                </c:pt>
                <c:pt idx="2">
                  <c:v>9.08</c:v>
                </c:pt>
                <c:pt idx="3">
                  <c:v>9.4700000000000006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7B-4675-9823-1A906A7DD04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 Cur. Fcst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Loc 1</c:v>
                </c:pt>
                <c:pt idx="1">
                  <c:v>Loc 2</c:v>
                </c:pt>
                <c:pt idx="2">
                  <c:v>Loc 3</c:v>
                </c:pt>
                <c:pt idx="3">
                  <c:v>Loc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12.45</c:v>
                </c:pt>
                <c:pt idx="1">
                  <c:v>7.76</c:v>
                </c:pt>
                <c:pt idx="2">
                  <c:v>8.52</c:v>
                </c:pt>
                <c:pt idx="3">
                  <c:v>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7B-4675-9823-1A906A7DD0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Actual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\$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Loc 1</c:v>
                </c:pt>
                <c:pt idx="1">
                  <c:v>Loc 2</c:v>
                </c:pt>
                <c:pt idx="2">
                  <c:v>Loc 3</c:v>
                </c:pt>
                <c:pt idx="3">
                  <c:v>Loc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22.69</c:v>
                </c:pt>
                <c:pt idx="1">
                  <c:v>13.26</c:v>
                </c:pt>
                <c:pt idx="2">
                  <c:v>17.37</c:v>
                </c:pt>
                <c:pt idx="3">
                  <c:v>24.26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B9-4C39-A604-19BF42CB2D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Plan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\$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Loc 1</c:v>
                </c:pt>
                <c:pt idx="1">
                  <c:v>Loc 2</c:v>
                </c:pt>
                <c:pt idx="2">
                  <c:v>Loc 3</c:v>
                </c:pt>
                <c:pt idx="3">
                  <c:v>Loc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23.15</c:v>
                </c:pt>
                <c:pt idx="1">
                  <c:v>14.05</c:v>
                </c:pt>
                <c:pt idx="2">
                  <c:v>17.170000000000002</c:v>
                </c:pt>
                <c:pt idx="3">
                  <c:v>24.43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B9-4C39-A604-19BF42CB2D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5451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4688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COST EXECUTIVE SUMMARY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Labor Cost Review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794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Analysis  ·  Efficiency vs Forecast · Current Forecast vs Plan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251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 Alvarez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Workforce_Analysis.xlsx  ·  Supporting model: Workforce_Variance_Model.xlsx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COST REVIEW  ·  2026 CURRENT FORECAST</a:t>
            </a:r>
            <a:endParaRPr lang="en-US" sz="105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 Cost Is Tracking $865K Under Plan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up $292K since the last forecast update: One overstaffed position is driving most of the swing.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3566160" cy="1691640"/>
          </a:xfrm>
          <a:prstGeom prst="rect">
            <a:avLst/>
          </a:prstGeom>
          <a:solidFill>
            <a:srgbClr val="2A3B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44144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$43.5M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32644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Current Forecast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Labor Cost (Salary + OT)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240280"/>
            <a:ext cx="3566160" cy="1691640"/>
          </a:xfrm>
          <a:prstGeom prst="rect">
            <a:avLst/>
          </a:prstGeom>
          <a:solidFill>
            <a:srgbClr val="2A3B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26280" y="244144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-1.9%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26280" y="32644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 vs Plan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(-$865,536)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2240280"/>
            <a:ext cx="3566160" cy="1691640"/>
          </a:xfrm>
          <a:prstGeom prst="rect">
            <a:avLst/>
          </a:prstGeom>
          <a:solidFill>
            <a:srgbClr val="2A3B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66760" y="244144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+$292K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8366760" y="32644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vs Prior Forecast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(since last update)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VARIANCE BY LOCATION  (Current Forecast vs Plan)</a:t>
            </a:r>
            <a:endParaRPr lang="en-US" sz="1200" dirty="0">
              <a:solidFill>
                <a:srgbClr val="002060"/>
              </a:solidFill>
            </a:endParaRPr>
          </a:p>
        </p:txBody>
      </p:sp>
      <p:graphicFrame>
        <p:nvGraphicFramePr>
          <p:cNvPr id="15" name="Chart 0"/>
          <p:cNvGraphicFramePr/>
          <p:nvPr>
            <p:extLst>
              <p:ext uri="{D42A27DB-BD31-4B8C-83A1-F6EECF244321}">
                <p14:modId xmlns:p14="http://schemas.microsoft.com/office/powerpoint/2010/main" val="2414861109"/>
              </p:ext>
            </p:extLst>
          </p:nvPr>
        </p:nvGraphicFramePr>
        <p:xfrm>
          <a:off x="457200" y="4434840"/>
          <a:ext cx="112471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Workforce_Analysis.xlsx  ·  Supporting model: Workforce_Variance_Model.xlsx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37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Variance Is Coming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totals can hide real problems when a good number and a bad number cancel out. Ranking all 104 jobs company-wide finds exactly which ones are driving the total.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314697"/>
              </p:ext>
            </p:extLst>
          </p:nvPr>
        </p:nvGraphicFramePr>
        <p:xfrm>
          <a:off x="457200" y="1737360"/>
          <a:ext cx="11247120" cy="2135337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 gridSpan="5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7A4C"/>
                          </a:solidFill>
                        </a:rPr>
                        <a:t>TOP 5 FAVORABLE  (largest savings vs Plan)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Location / Position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Labor $ Cur.Fcst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Labor $ Plan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Var $ vs Plan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FTE Var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Location 3 — Position B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$1,445,021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$1,706,993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E7A4C"/>
                          </a:solidFill>
                        </a:rPr>
                        <a:t>-$261,972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-82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1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Location 3 — Position H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$1,252,895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$1,457,336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E7A4C"/>
                          </a:solidFill>
                        </a:rPr>
                        <a:t>-$204,441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-44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5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Location 2 — Position B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$1,314,929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$1,507,894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E7A4C"/>
                          </a:solidFill>
                        </a:rPr>
                        <a:t>-$192,965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-66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Location 4 — Position A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$1,560,596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$1,735,596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E7A4C"/>
                          </a:solidFill>
                        </a:rPr>
                        <a:t>-$175,000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-60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Location 3 — Position A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$889,662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$1,055,190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E7A4C"/>
                          </a:solidFill>
                        </a:rPr>
                        <a:t>-$165,528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-54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997391"/>
              </p:ext>
            </p:extLst>
          </p:nvPr>
        </p:nvGraphicFramePr>
        <p:xfrm>
          <a:off x="459726" y="3863340"/>
          <a:ext cx="11247120" cy="21762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 gridSpan="5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23A3A"/>
                          </a:solidFill>
                        </a:rPr>
                        <a:t>TOP 5 UNFAVORABLE  (largest overruns vs Plan)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Location / Position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Labor $ Cur.Fcst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Labor $ Plan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Var $ vs Plan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FTE Var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Location 3 — Position K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$1,274,717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$857,935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B23A3A"/>
                          </a:solidFill>
                        </a:rPr>
                        <a:t>+$416,782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+125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Location 1 — Position X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$1,180,430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$891,351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B23A3A"/>
                          </a:solidFill>
                        </a:rPr>
                        <a:t>+$289,079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+2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Location 3 — Position L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$356,485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$164,226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B23A3A"/>
                          </a:solidFill>
                        </a:rPr>
                        <a:t>+$192,259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+43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Location 2 — Position X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$743,584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$647,008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B23A3A"/>
                          </a:solidFill>
                        </a:rPr>
                        <a:t>+$96,576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+19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Location 3 — Position I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$634,823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$589,057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B23A3A"/>
                          </a:solidFill>
                        </a:rPr>
                        <a:t>+$45,766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-12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K at Location 3 alone is +$417K / +125 FTE vs plan and is the single largest driver company-wide, and 26% of all overspend across every location combined. Location 3's location-level total looks nearly flat (-$27K) only because this and Position B (-$262K) cancel out.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Workforce_Analysis.xlsx  ·  Supporting model: Workforce_Variance_Model.xlsx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E8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/ INEFFICIENCY OF LABOR COSTS VS FORECAST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Labor Being Spent Well, Not Just On-Budget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checks: how much of pay is overtime (a costlier way to cover work), and how labor cost tracks against actual rental volume.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AS % OF SALARY, BY LOCATION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at every location, from 2025 actual through the newest forecast 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= less reliance on costlier overtime pay.</a:t>
            </a:r>
            <a:endParaRPr lang="en-US" sz="1100" b="1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055445216"/>
              </p:ext>
            </p:extLst>
          </p:nvPr>
        </p:nvGraphicFramePr>
        <p:xfrm>
          <a:off x="365760" y="2514600"/>
          <a:ext cx="56692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30936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$ PER RENTAL TRANSACTION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09360" y="19659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labor cost to rental activity. This way, we don't judge labor cost by itself. 2025 actual vs 2026 plan. Both full-year.</a:t>
            </a:r>
            <a:endParaRPr lang="en-US" sz="11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6217920" y="2514600"/>
          <a:ext cx="56692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2026 actual transactions are partial-year (YTD) and excluded — both bases above use full-year figures so they're comparable.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Workforce_Analysis.xlsx  ·  Supporting model: Workforce_Variance_Model.xlsx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521440" y="6537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590</Words>
  <Application>Microsoft Office PowerPoint</Application>
  <PresentationFormat>Widescreen</PresentationFormat>
  <Paragraphs>108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Steven Alvarez</cp:lastModifiedBy>
  <cp:revision>3</cp:revision>
  <dcterms:created xsi:type="dcterms:W3CDTF">2026-07-13T20:51:09Z</dcterms:created>
  <dcterms:modified xsi:type="dcterms:W3CDTF">2026-07-14T02:57:15Z</dcterms:modified>
</cp:coreProperties>
</file>