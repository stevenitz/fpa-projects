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4B2A"/>
    <a:srgbClr val="C9A227"/>
    <a:srgbClr val="4C7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8" autoAdjust="0"/>
    <p:restoredTop sz="94610"/>
  </p:normalViewPr>
  <p:slideViewPr>
    <p:cSldViewPr snapToGrid="0" snapToObjects="1">
      <p:cViewPr>
        <p:scale>
          <a:sx n="48" d="100"/>
          <a:sy n="48" d="100"/>
        </p:scale>
        <p:origin x="-44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Attachment Gap (pp)</c:v>
                </c:pt>
              </c:strCache>
            </c:strRef>
          </c:tx>
          <c:spPr>
            <a:solidFill>
              <a:srgbClr val="A64B2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Product 3</c:v>
                </c:pt>
                <c:pt idx="1">
                  <c:v>Product 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17.5</c:v>
                </c:pt>
                <c:pt idx="1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5-4F91-A879-CA595F2A91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 Revenue ($)</c:v>
                </c:pt>
              </c:strCache>
            </c:strRef>
          </c:tx>
          <c:spPr>
            <a:solidFill>
              <a:srgbClr val="4C7A5E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Current</c:v>
                </c:pt>
                <c:pt idx="1">
                  <c:v>+5 pp</c:v>
                </c:pt>
                <c:pt idx="2">
                  <c:v>+10 pp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10271</c:v>
                </c:pt>
                <c:pt idx="2">
                  <c:v>20551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0B-48CC-8B9F-6242340747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Incremental Revenue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Counter Bypass %</c:v>
                </c:pt>
              </c:strCache>
            </c:strRef>
          </c:tx>
          <c:spPr>
            <a:solidFill>
              <a:srgbClr val="4C7A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64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27-4104-9C08-CE8AB5646C11}"/>
              </c:ext>
            </c:extLst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27-4104-9C08-CE8AB5646C11}"/>
              </c:ext>
            </c:extLst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27-4104-9C08-CE8AB5646C1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427-4104-9C08-CE8AB5646C1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427-4104-9C08-CE8AB5646C1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427-4104-9C08-CE8AB5646C1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Loc 260</c:v>
                </c:pt>
                <c:pt idx="1">
                  <c:v>Loc 137</c:v>
                </c:pt>
                <c:pt idx="2">
                  <c:v>Loc 224</c:v>
                </c:pt>
                <c:pt idx="3">
                  <c:v>Loc 7</c:v>
                </c:pt>
                <c:pt idx="4">
                  <c:v>Loc 157</c:v>
                </c:pt>
                <c:pt idx="5">
                  <c:v>Loc 233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81.2</c:v>
                </c:pt>
                <c:pt idx="1">
                  <c:v>32.700000000000003</c:v>
                </c:pt>
                <c:pt idx="2">
                  <c:v>33.299999999999997</c:v>
                </c:pt>
                <c:pt idx="3">
                  <c:v>30.5</c:v>
                </c:pt>
                <c:pt idx="4">
                  <c:v>10.8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427-4104-9C08-CE8AB5646C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8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Ancillary Revenue Opportunity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Location-Level Analysis: Board Summary</a:t>
            </a:r>
            <a:endParaRPr lang="en-US" sz="1600" dirty="0"/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8B97883E-47BB-ABFC-7A1F-9DE4B6F193F1}"/>
              </a:ext>
            </a:extLst>
          </p:cNvPr>
          <p:cNvSpPr/>
          <p:nvPr/>
        </p:nvSpPr>
        <p:spPr>
          <a:xfrm>
            <a:off x="64008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 Alvarez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118872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260 </a:t>
            </a: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clearest ancillary opportunity in the network, underperforming across 3 of 5 products, driven by an </a:t>
            </a:r>
            <a:r>
              <a:rPr lang="en-US" sz="13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counter bypass rate</a:t>
            </a:r>
            <a:r>
              <a:rPr lang="en-US" sz="1350" b="1" dirty="0">
                <a:solidFill>
                  <a:srgbClr val="D9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(vs. ~30% typical). Its Product 4 penetration sits </a:t>
            </a: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 percentage points below the median </a:t>
            </a: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top-performing locations. Closing even part of that gap could add </a:t>
            </a:r>
            <a:r>
              <a:rPr lang="en-US" sz="135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$10K–$21K</a:t>
            </a:r>
            <a:r>
              <a:rPr lang="en-US" sz="13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annually.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566160" cy="14630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Location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Loc. 260</a:t>
            </a:r>
            <a:endParaRPr lang="en-US" sz="2400" dirty="0">
              <a:solidFill>
                <a:srgbClr val="4C7A5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underperforms on 3 of 5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2377440"/>
            <a:ext cx="3566160" cy="14630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4 Attachment Gap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 pp</a:t>
            </a:r>
            <a:endParaRPr lang="en-US" sz="2400" dirty="0">
              <a:solidFill>
                <a:srgbClr val="4C7A5E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median, high-10 vs. low-10 locations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377440"/>
            <a:ext cx="3566160" cy="146304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Upside (Loc. 260, P4)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$10K–$21K</a:t>
            </a:r>
            <a:endParaRPr lang="en-US" sz="2400" dirty="0">
              <a:solidFill>
                <a:srgbClr val="4C7A5E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7532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pp penetration improvement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(in brief)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locations under ~3,146 rentals (bottom 5% by volume, unstable penetration rates) → compared the </a:t>
            </a: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penetration </a:t>
            </a: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top-10 vs. bottom-10 performing locations for each product → identified recurring low/high performers → examined counter bypass, vehicle mix, and leisure/commercial split as explanatory factors. Product 3 shows an even larger gap (17.5 pp); Product 4 is used below for the revenue walkthrough.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Ancillary Sales Analysis dataset, 293 locations, R + Excel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ranked by how often they repeat across the bottom/top 10 for all 5 ancillary products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Low Performers </a:t>
            </a:r>
            <a:endParaRPr lang="en-US" sz="1300" dirty="0">
              <a:solidFill>
                <a:srgbClr val="A64B2A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965284"/>
              </p:ext>
            </p:extLst>
          </p:nvPr>
        </p:nvGraphicFramePr>
        <p:xfrm>
          <a:off x="457200" y="1634136"/>
          <a:ext cx="5029200" cy="26517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 Products in Bottom 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High Performers</a:t>
            </a:r>
            <a:endParaRPr lang="en-US" sz="1300" dirty="0">
              <a:solidFill>
                <a:srgbClr val="4C7A5E"/>
              </a:solidFill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168502"/>
              </p:ext>
            </p:extLst>
          </p:nvPr>
        </p:nvGraphicFramePr>
        <p:xfrm>
          <a:off x="5852160" y="1600200"/>
          <a:ext cx="5029200" cy="26517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 Products in Top 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251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number of products (of 5) where the location appears in the top/bottom 10 by penetration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572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Gap:  High-10 vs. Low-10 Median (Products 3 &amp; 4)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62446211"/>
              </p:ext>
            </p:extLst>
          </p:nvPr>
        </p:nvGraphicFramePr>
        <p:xfrm>
          <a:off x="457200" y="4846320"/>
          <a:ext cx="73152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8046720" y="4846320"/>
            <a:ext cx="3657600" cy="173736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275320" y="5029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3 &amp; 4 show the largest gap; Product 5 shows little separation and was deprioritized.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the Opportunity — Location 260, Product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= Penetration × Number of Rentals × Rate per Sold Day × Length of Rental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/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Penetration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Projected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Incremental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 pp (conservative)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+$10,271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 pp (moderate)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$21,588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+$20,551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25360458"/>
              </p:ext>
            </p:extLst>
          </p:nvPr>
        </p:nvGraphicFramePr>
        <p:xfrm>
          <a:off x="457200" y="3383280"/>
          <a:ext cx="6583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15200" y="3383280"/>
            <a:ext cx="4389120" cy="27432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54380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&amp; caveats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498080" y="38862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modeled a 5 to 10 pp gain, not a full catch-up to top performers. This tests what partial progress is worth.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1B2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Location 260, only ~3,300 rentals per year cap the upside, even with a large rate gap. The dollar figure is an estimate, not a guarantee. Actual results depend on sales execution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1B2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formula works for any location with penetration and rental inputs. Set the improvement assumption per location. Use 5 to 10 pp for a modest gain only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1F316-F6F7-89BF-A9BB-EA8B2D468AA5}"/>
              </a:ext>
            </a:extLst>
          </p:cNvPr>
          <p:cNvSpPr txBox="1"/>
          <p:nvPr/>
        </p:nvSpPr>
        <p:spPr>
          <a:xfrm>
            <a:off x="426720" y="6492240"/>
            <a:ext cx="83123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Revenue formula was created by me and compared to the actual given revenue and was off by small margins, making it a good enough proxy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Happening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Bypass %  Low vs. High Performers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22413538"/>
              </p:ext>
            </p:extLst>
          </p:nvPr>
        </p:nvGraphicFramePr>
        <p:xfrm>
          <a:off x="457200" y="1280160"/>
          <a:ext cx="65836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280160"/>
            <a:ext cx="4389120" cy="246888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43800" y="14630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260's bypass rate (81%) is more than double the typical range (~25–35%).
</a:t>
            </a: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bypass = fewer counter interactions = fewer chances for agents to pitch ancillary products.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Factors (directional, smaller sample)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434840"/>
            <a:ext cx="11247120" cy="82296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" y="461772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58368" y="4617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37360" y="45262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260 is 85% commercial / 15% leisure: Leisure mix correlates with P4/P5 penetration (r = 0.68–0.71), consistent with 260's weak P4 result.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2440" y="5394960"/>
            <a:ext cx="11247120" cy="82296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8368" y="5577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A64B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8368" y="557784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37360" y="54864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Higher-performing locations show a somewhat larger SUV/Van mix (a softer pattern worth monitoring, not a confirmed driver)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correlation, not causation. Patterns describe association, not proven cause.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661</Words>
  <Application>Microsoft Office PowerPoint</Application>
  <PresentationFormat>Widescreen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 Alvarez</cp:lastModifiedBy>
  <cp:revision>8</cp:revision>
  <dcterms:created xsi:type="dcterms:W3CDTF">2026-07-13T18:37:51Z</dcterms:created>
  <dcterms:modified xsi:type="dcterms:W3CDTF">2026-07-17T16:10:12Z</dcterms:modified>
</cp:coreProperties>
</file>